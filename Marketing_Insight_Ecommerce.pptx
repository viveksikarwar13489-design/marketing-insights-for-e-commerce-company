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9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9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Acquired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215</c:v>
                </c:pt>
                <c:pt idx="1">
                  <c:v>96</c:v>
                </c:pt>
                <c:pt idx="2">
                  <c:v>177</c:v>
                </c:pt>
                <c:pt idx="3">
                  <c:v>163</c:v>
                </c:pt>
                <c:pt idx="4">
                  <c:v>112</c:v>
                </c:pt>
                <c:pt idx="5">
                  <c:v>137</c:v>
                </c:pt>
                <c:pt idx="6">
                  <c:v>94</c:v>
                </c:pt>
                <c:pt idx="7">
                  <c:v>135</c:v>
                </c:pt>
                <c:pt idx="8">
                  <c:v>78</c:v>
                </c:pt>
                <c:pt idx="9">
                  <c:v>87</c:v>
                </c:pt>
                <c:pt idx="10">
                  <c:v>68</c:v>
                </c:pt>
                <c:pt idx="11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F1-451D-A37F-C61134DF1D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Jan→Feb</c:v>
                </c:pt>
                <c:pt idx="1">
                  <c:v>Feb→Mar</c:v>
                </c:pt>
                <c:pt idx="2">
                  <c:v>Mar→Apr</c:v>
                </c:pt>
                <c:pt idx="3">
                  <c:v>Apr→May</c:v>
                </c:pt>
                <c:pt idx="4">
                  <c:v>May→Jun</c:v>
                </c:pt>
                <c:pt idx="5">
                  <c:v>Jun→Jul</c:v>
                </c:pt>
                <c:pt idx="6">
                  <c:v>Jul→Aug</c:v>
                </c:pt>
                <c:pt idx="7">
                  <c:v>Aug→Sep</c:v>
                </c:pt>
                <c:pt idx="8">
                  <c:v>Sep→Oct</c:v>
                </c:pt>
                <c:pt idx="9">
                  <c:v>Oct→Nov</c:v>
                </c:pt>
                <c:pt idx="10">
                  <c:v>Nov→Dec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6.05</c:v>
                </c:pt>
                <c:pt idx="1">
                  <c:v>10.09</c:v>
                </c:pt>
                <c:pt idx="2">
                  <c:v>11.54</c:v>
                </c:pt>
                <c:pt idx="3">
                  <c:v>11.16</c:v>
                </c:pt>
                <c:pt idx="4">
                  <c:v>18.5</c:v>
                </c:pt>
                <c:pt idx="5">
                  <c:v>22.39</c:v>
                </c:pt>
                <c:pt idx="6">
                  <c:v>27.54</c:v>
                </c:pt>
                <c:pt idx="7">
                  <c:v>14.67</c:v>
                </c:pt>
                <c:pt idx="8">
                  <c:v>15.03</c:v>
                </c:pt>
                <c:pt idx="9">
                  <c:v>14.76</c:v>
                </c:pt>
                <c:pt idx="10">
                  <c:v>14.89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24-4D97-A794-3BBA4FDC4F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1-5%</c:v>
                </c:pt>
                <c:pt idx="2">
                  <c:v>6-10%</c:v>
                </c:pt>
                <c:pt idx="3">
                  <c:v>11-20%</c:v>
                </c:pt>
                <c:pt idx="4">
                  <c:v>21-30%</c:v>
                </c:pt>
                <c:pt idx="5">
                  <c:v>31-50%</c:v>
                </c:pt>
                <c:pt idx="6">
                  <c:v>50%+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30604.12</c:v>
                </c:pt>
                <c:pt idx="1">
                  <c:v>4127272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59-42F6-AE0D-66A600D5F0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1-5%</c:v>
                </c:pt>
                <c:pt idx="2">
                  <c:v>6-10%</c:v>
                </c:pt>
                <c:pt idx="3">
                  <c:v>11-20%</c:v>
                </c:pt>
                <c:pt idx="4">
                  <c:v>21-30%</c:v>
                </c:pt>
                <c:pt idx="5">
                  <c:v>31-50%</c:v>
                </c:pt>
                <c:pt idx="6">
                  <c:v>50%+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1666</c:v>
                </c:pt>
                <c:pt idx="1">
                  <c:v>236367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DE-4432-91EC-8A2D44D9DE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1581</c:v>
                </c:pt>
                <c:pt idx="1">
                  <c:v>1617</c:v>
                </c:pt>
                <c:pt idx="2">
                  <c:v>3153</c:v>
                </c:pt>
                <c:pt idx="3">
                  <c:v>3304</c:v>
                </c:pt>
                <c:pt idx="4">
                  <c:v>3443</c:v>
                </c:pt>
                <c:pt idx="5">
                  <c:v>3096</c:v>
                </c:pt>
                <c:pt idx="6">
                  <c:v>3079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7A-47C0-8AC6-D09AACDFEC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320886</c:v>
                </c:pt>
                <c:pt idx="1">
                  <c:v>352316</c:v>
                </c:pt>
                <c:pt idx="2">
                  <c:v>734150</c:v>
                </c:pt>
                <c:pt idx="3">
                  <c:v>758085</c:v>
                </c:pt>
                <c:pt idx="4">
                  <c:v>775148</c:v>
                </c:pt>
                <c:pt idx="5">
                  <c:v>601673</c:v>
                </c:pt>
                <c:pt idx="6">
                  <c:v>615620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7A-47C0-8AC6-D09AACDFE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404641</c:v>
                </c:pt>
                <c:pt idx="1">
                  <c:v>278680</c:v>
                </c:pt>
                <c:pt idx="2">
                  <c:v>276005</c:v>
                </c:pt>
                <c:pt idx="3">
                  <c:v>406517</c:v>
                </c:pt>
                <c:pt idx="4">
                  <c:v>277160</c:v>
                </c:pt>
                <c:pt idx="5">
                  <c:v>252317</c:v>
                </c:pt>
                <c:pt idx="6">
                  <c:v>375258</c:v>
                </c:pt>
                <c:pt idx="7">
                  <c:v>357061</c:v>
                </c:pt>
                <c:pt idx="8">
                  <c:v>280123</c:v>
                </c:pt>
                <c:pt idx="9">
                  <c:v>404876</c:v>
                </c:pt>
                <c:pt idx="10">
                  <c:v>443590</c:v>
                </c:pt>
                <c:pt idx="11">
                  <c:v>401648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3F9-4319-8B3E-0D103549B7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Spend</c:v>
                </c:pt>
              </c:strCache>
            </c:strRef>
          </c:tx>
          <c:spPr>
            <a:ln w="25400" cap="flat">
              <a:solidFill>
                <a:srgbClr val="0D7A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A8A"/>
              </a:solidFill>
              <a:ln w="9525" cap="flat">
                <a:solidFill>
                  <a:srgbClr val="0D7A8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7686875</c:v>
                </c:pt>
                <c:pt idx="1">
                  <c:v>6360136</c:v>
                </c:pt>
                <c:pt idx="2">
                  <c:v>6965280</c:v>
                </c:pt>
                <c:pt idx="3">
                  <c:v>8196922</c:v>
                </c:pt>
                <c:pt idx="4">
                  <c:v>7574021</c:v>
                </c:pt>
                <c:pt idx="5">
                  <c:v>7436404</c:v>
                </c:pt>
                <c:pt idx="6">
                  <c:v>9055934</c:v>
                </c:pt>
                <c:pt idx="7">
                  <c:v>11551234</c:v>
                </c:pt>
                <c:pt idx="8">
                  <c:v>7371126</c:v>
                </c:pt>
                <c:pt idx="9">
                  <c:v>7813772</c:v>
                </c:pt>
                <c:pt idx="10">
                  <c:v>8934800</c:v>
                </c:pt>
                <c:pt idx="11">
                  <c:v>11244402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3F9-4319-8B3E-0D103549B7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Offline Spend</c:v>
                </c:pt>
              </c:strCache>
            </c:strRef>
          </c:tx>
          <c:spPr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12365900</c:v>
                </c:pt>
                <c:pt idx="1">
                  <c:v>9481400</c:v>
                </c:pt>
                <c:pt idx="2">
                  <c:v>10488500</c:v>
                </c:pt>
                <c:pt idx="3">
                  <c:v>13459000</c:v>
                </c:pt>
                <c:pt idx="4">
                  <c:v>9951500</c:v>
                </c:pt>
                <c:pt idx="5">
                  <c:v>11189000</c:v>
                </c:pt>
                <c:pt idx="6">
                  <c:v>11563000</c:v>
                </c:pt>
                <c:pt idx="7">
                  <c:v>16834500</c:v>
                </c:pt>
                <c:pt idx="8">
                  <c:v>11886500</c:v>
                </c:pt>
                <c:pt idx="9">
                  <c:v>12722500</c:v>
                </c:pt>
                <c:pt idx="10">
                  <c:v>12161500</c:v>
                </c:pt>
                <c:pt idx="11">
                  <c:v>17720000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3F9-4319-8B3E-0D103549B7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AF-4DAB-ADBA-78EFFF1C6B9A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AF-4DAB-ADBA-78EFFF1C6B9A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AF-4DAB-ADBA-78EFFF1C6B9A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0AF-4DAB-ADBA-78EFFF1C6B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Silver</c:v>
                </c:pt>
                <c:pt idx="2">
                  <c:v>Gold</c:v>
                </c:pt>
                <c:pt idx="3">
                  <c:v>Premium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1234</c:v>
                </c:pt>
                <c:pt idx="1">
                  <c:v>210</c:v>
                </c:pt>
                <c:pt idx="2">
                  <c:v>22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AF-4DAB-ADBA-78EFFF1C6B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AE-4700-B4F6-B2C14E9B03F7}"/>
              </c:ext>
            </c:extLst>
          </c:dPt>
          <c:dPt>
            <c:idx val="1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AE-4700-B4F6-B2C14E9B03F7}"/>
              </c:ext>
            </c:extLst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AE-4700-B4F6-B2C14E9B03F7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AE-4700-B4F6-B2C14E9B03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Gold</c:v>
                </c:pt>
                <c:pt idx="1">
                  <c:v>Premium</c:v>
                </c:pt>
                <c:pt idx="2">
                  <c:v>Silver</c:v>
                </c:pt>
                <c:pt idx="3">
                  <c:v>Standard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396</c:v>
                </c:pt>
                <c:pt idx="1">
                  <c:v>391</c:v>
                </c:pt>
                <c:pt idx="2">
                  <c:v>382</c:v>
                </c:pt>
                <c:pt idx="3">
                  <c:v>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AE-4700-B4F6-B2C14E9B03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ln w="31750" cap="flat">
              <a:solidFill>
                <a:srgbClr val="0D7A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A8A"/>
              </a:solidFill>
              <a:ln w="9525" cap="flat">
                <a:solidFill>
                  <a:srgbClr val="0D7A8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  <c:pt idx="6">
                  <c:v>K=8</c:v>
                </c:pt>
                <c:pt idx="7">
                  <c:v>K=9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0.14399999999999999</c:v>
                </c:pt>
                <c:pt idx="1">
                  <c:v>0.154</c:v>
                </c:pt>
                <c:pt idx="2">
                  <c:v>0.13400000000000001</c:v>
                </c:pt>
                <c:pt idx="3">
                  <c:v>0.13700000000000001</c:v>
                </c:pt>
                <c:pt idx="4">
                  <c:v>0.13900000000000001</c:v>
                </c:pt>
                <c:pt idx="5">
                  <c:v>0.14299999999999999</c:v>
                </c:pt>
                <c:pt idx="6">
                  <c:v>0.14000000000000001</c:v>
                </c:pt>
                <c:pt idx="7">
                  <c:v>0.13900000000000001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52-4A8C-B315-79936A93D2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0E-4071-B724-1DAB04ADB0AD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0E-4071-B724-1DAB04ADB0AD}"/>
              </c:ext>
            </c:extLst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0E-4071-B724-1DAB04ADB0A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Value</c:v>
                </c:pt>
                <c:pt idx="1">
                  <c:v>Medium Value</c:v>
                </c:pt>
                <c:pt idx="2">
                  <c:v>High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489</c:v>
                </c:pt>
                <c:pt idx="1">
                  <c:v>489</c:v>
                </c:pt>
                <c:pt idx="2">
                  <c:v>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0E-4071-B724-1DAB04ADB0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frequency</c:v>
                </c:pt>
                <c:pt idx="1">
                  <c:v>product_diversity</c:v>
                </c:pt>
                <c:pt idx="2">
                  <c:v>avg_order_value</c:v>
                </c:pt>
                <c:pt idx="3">
                  <c:v>coupon_usage_rate</c:v>
                </c:pt>
                <c:pt idx="4">
                  <c:v>recency</c:v>
                </c:pt>
                <c:pt idx="5">
                  <c:v>offline_ratio</c:v>
                </c:pt>
                <c:pt idx="6">
                  <c:v>online_ratio</c:v>
                </c:pt>
                <c:pt idx="7">
                  <c:v>tenure</c:v>
                </c:pt>
                <c:pt idx="8">
                  <c:v>avg_discount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0.50497000000000003</c:v>
                </c:pt>
                <c:pt idx="1">
                  <c:v>0.194963</c:v>
                </c:pt>
                <c:pt idx="2">
                  <c:v>0.17689299999999999</c:v>
                </c:pt>
                <c:pt idx="3">
                  <c:v>4.1978000000000001E-2</c:v>
                </c:pt>
                <c:pt idx="4">
                  <c:v>2.6894000000000001E-2</c:v>
                </c:pt>
                <c:pt idx="5">
                  <c:v>1.7381000000000001E-2</c:v>
                </c:pt>
                <c:pt idx="6">
                  <c:v>1.6499E-2</c:v>
                </c:pt>
                <c:pt idx="7">
                  <c:v>1.1462E-2</c:v>
                </c:pt>
                <c:pt idx="8">
                  <c:v>8.9599999999999992E-3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CE-4406-BB39-1974BC18D9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Co-occurrence Frequency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Apparel + Office</c:v>
                </c:pt>
                <c:pt idx="1">
                  <c:v>Apparel + Drinkware</c:v>
                </c:pt>
                <c:pt idx="2">
                  <c:v>Apparel + Lifestyle</c:v>
                </c:pt>
                <c:pt idx="3">
                  <c:v>Lifestyle + Office</c:v>
                </c:pt>
                <c:pt idx="4">
                  <c:v>Drinkware +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7732</c:v>
                </c:pt>
                <c:pt idx="1">
                  <c:v>4518</c:v>
                </c:pt>
                <c:pt idx="2">
                  <c:v>4208</c:v>
                </c:pt>
                <c:pt idx="3">
                  <c:v>4122</c:v>
                </c:pt>
                <c:pt idx="4">
                  <c:v>3945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703-A2D1-9F77621490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12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07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841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0694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2729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031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3849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057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742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1211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1639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444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7035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7459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126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627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5C6B4A9-1611-4792-9094-5F34BCA07E0B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877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5243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1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33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Insight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E-Commerce Company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4114800" cy="36576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450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5B0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53312" cy="1600200"/>
          </a:xfrm>
          <a:prstGeom prst="rect">
            <a:avLst/>
          </a:prstGeom>
          <a:solidFill>
            <a:srgbClr val="1E3A5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94436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52,924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135331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</a:rPr>
              <a:t>Total Rows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55648" y="2834640"/>
            <a:ext cx="1353312" cy="1600200"/>
          </a:xfrm>
          <a:prstGeom prst="rect">
            <a:avLst/>
          </a:prstGeom>
          <a:solidFill>
            <a:srgbClr val="1E3A5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55648" y="294436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1,468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55648" y="3566160"/>
            <a:ext cx="135331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36976" y="2834640"/>
            <a:ext cx="1353312" cy="1600200"/>
          </a:xfrm>
          <a:prstGeom prst="rect">
            <a:avLst/>
          </a:prstGeom>
          <a:solidFill>
            <a:srgbClr val="1E3A5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36976" y="294436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10,951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36976" y="3566160"/>
            <a:ext cx="135331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</a:rPr>
              <a:t>Unique Orders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8304" y="2834640"/>
            <a:ext cx="1353312" cy="1600200"/>
          </a:xfrm>
          <a:prstGeom prst="rect">
            <a:avLst/>
          </a:prstGeom>
          <a:solidFill>
            <a:srgbClr val="1E3A5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18304" y="294436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2019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18304" y="3566160"/>
            <a:ext cx="135331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</a:rPr>
              <a:t>Data Year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9632" y="2834640"/>
            <a:ext cx="1353312" cy="1600200"/>
          </a:xfrm>
          <a:prstGeom prst="rect">
            <a:avLst/>
          </a:prstGeom>
          <a:solidFill>
            <a:srgbClr val="1E3A5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294436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99632" y="3566160"/>
            <a:ext cx="135331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</a:rPr>
              <a:t>Product Categories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2834640"/>
            <a:ext cx="1353312" cy="1600200"/>
          </a:xfrm>
          <a:prstGeom prst="rect">
            <a:avLst/>
          </a:prstGeom>
          <a:solidFill>
            <a:srgbClr val="1E3A5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294436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80960" y="3566160"/>
            <a:ext cx="135331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B0"/>
                </a:solidFill>
              </a:rPr>
              <a:t>Locations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KPIs  (Full Year 2019)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" y="685800"/>
            <a:ext cx="1627632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685800"/>
            <a:ext cx="1627632" cy="164592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" y="9144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0"/>
                </a:solidFill>
              </a:rPr>
              <a:t>4,157,876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" y="1645920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</a:rPr>
              <a:t>Total Revenue (after_tax)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" y="2148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5B0"/>
                </a:solidFill>
              </a:rPr>
              <a:t>₹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01952" y="685800"/>
            <a:ext cx="1627632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01952" y="685800"/>
            <a:ext cx="162763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901952" y="9144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0"/>
                </a:solidFill>
              </a:rPr>
              <a:t>10,951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01952" y="1645920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</a:rPr>
              <a:t>Total Orders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01952" y="2148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5B0"/>
                </a:solidFill>
              </a:rPr>
              <a:t>unique invoices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94176" y="685800"/>
            <a:ext cx="1627632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94176" y="685800"/>
            <a:ext cx="1627632" cy="164592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94176" y="9144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0"/>
                </a:solidFill>
              </a:rPr>
              <a:t>1,468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94176" y="1645920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</a:rPr>
              <a:t>Unique Customers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685800"/>
            <a:ext cx="1627632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685800"/>
            <a:ext cx="162763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9144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0"/>
                </a:solidFill>
              </a:rPr>
              <a:t>2,38,033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1645920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</a:rPr>
              <a:t>Total Quantity Sold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0" y="2148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5B0"/>
                </a:solidFill>
              </a:rPr>
              <a:t>units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78624" y="685800"/>
            <a:ext cx="1627632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78624" y="685800"/>
            <a:ext cx="1627632" cy="164592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5" name="Text 23"/>
          <p:cNvSpPr/>
          <p:nvPr/>
        </p:nvSpPr>
        <p:spPr>
          <a:xfrm>
            <a:off x="7278624" y="9144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0"/>
                </a:solidFill>
              </a:rPr>
              <a:t>379.68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78624" y="1645920"/>
            <a:ext cx="16276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</a:rPr>
              <a:t>Average Order Value (AOV)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78624" y="2148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5B0"/>
                </a:solidFill>
              </a:rPr>
              <a:t>Revenue / Orders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Monthly KPI Breakdown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3090672"/>
          <a:ext cx="5074920" cy="27813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AOV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Jan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404,641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910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20,140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444.66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Feb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278,680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109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16,575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303.24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276,005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1,244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20,787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221.87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Apr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406,517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1,311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224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25,277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310.08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277,160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1,207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18,715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229.63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252,317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1,040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21,619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242.61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375,258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1,322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236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22,898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283.86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Aug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357,061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1,415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27,457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252.34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Sep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280,123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1,148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19,353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244.01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Oct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404,876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1,067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17,425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379.45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Nov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443,590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803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15,120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552.42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0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Dec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401,648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594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236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12,667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676.18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623560" y="2788920"/>
            <a:ext cx="3383280" cy="214884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669280" y="28529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</a:rPr>
              <a:t>Peak &amp; Low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715000" y="32461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Highest Revenue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406640" y="32461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Nov — 443,590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15000" y="352044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Lowest Revenue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406640" y="352044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Jun — 252,317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715000" y="37947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Most Orders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06640" y="379476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Aug — 1,415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15000" y="40690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Most Customers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406640" y="406908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Aug — 300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715000" y="43434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Highest AOV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406640" y="434340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Dec — 676.18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715000" y="4617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Lowest AOV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406640" y="461772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Mar — 221.87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&amp; MONTH-ON-MONTH RETENTION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Monthly New Customer Acquisition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32688"/>
          <a:ext cx="42976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658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Month-on-Month Retention %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26280" y="932688"/>
          <a:ext cx="4434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3182112"/>
          <a:ext cx="740664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Retention%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Jan→Feb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6.05%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Feb→Mar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109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10.09%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Mar→Apr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11.54%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Apr→May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224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11.16%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May→Jun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18.50%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Jun→Jul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58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22.39%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Jul→Aug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236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65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27.54%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Aug→Sep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14.67%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Sep→Oct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15.03%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Oct→Nov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14.76%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Nov→Dec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14.89%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NEW vs EXISTING CUSTOMERS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" y="658368"/>
            <a:ext cx="4297680" cy="118872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749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2,476,491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" y="1298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New Customer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" y="1554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DDEE"/>
                </a:solidFill>
              </a:rPr>
              <a:t>New — 1,468 customers, 7,818 orders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09160" y="658368"/>
            <a:ext cx="429768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749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1,681,385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09160" y="1298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</a:rPr>
              <a:t>Existing Customer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DDEE"/>
                </a:solidFill>
              </a:rPr>
              <a:t>Existing — 580 customers, 5,455 orders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Monthly Revenue Split: New vs Existing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2267712"/>
          <a:ext cx="7863840" cy="2773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New Revenue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Existing Revenue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Jan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404,641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404,641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Feb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243,668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35,012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278,680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Mar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232,376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43,629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276,005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Apr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236,385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170,133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406,518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May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177,520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99,640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277,160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Jun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151,090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101,227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252,317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Jul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151,017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224,241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375,258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Aug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171,219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185,842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357,061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Sep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114,116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166,007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280,123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Oct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214,983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189,893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404,876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Nov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189,723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253,867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443,590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Dec 2019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189,754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211,894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401,648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Revenue by Discount Bucket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32688"/>
          <a:ext cx="42976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658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Quantity by Discount Bucket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26280" y="932688"/>
          <a:ext cx="4434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3716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Monthly Avg Discount % vs Revenue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3493008"/>
          <a:ext cx="4206240" cy="2773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Avg Discount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9.90%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404,641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19.76%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278,680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29.61%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276,005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9.87%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406,517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19.76%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277,160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29.76%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252,317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9.90%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375,258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19.88%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357,061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29.90%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280,123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9.97%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404,876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19.98%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443,590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30.00%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401,648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846320" y="3200400"/>
            <a:ext cx="4160520" cy="178308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4937760" y="3273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937760" y="36301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Only 2 discount buckets have revenue: 0% and 1–5%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937760" y="38770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1–5% discount: Revenue = 4,127,272  |  Qty = 236,367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937760" y="41239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0% discount: Revenue = 30,604  |  Qty = 1,666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4937760" y="43708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Discount pct values in data: 0.1, 0.2, 0.3 (10/20/30%)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937760" y="4617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Higher discount months show lower total revenue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BY PRODUCT CATEGORY  (sorted by Revenue)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658368"/>
          <a:ext cx="7040880" cy="4419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Product Category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AOV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Nest-USA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2,251,675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366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21,430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1,260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6,152.12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Apparel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558,586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3,021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32,438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1,323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184.90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Nest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423,894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173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2,837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516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2,450.26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Office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245,552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2,999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88,383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1,103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81.88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Drinkware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190,140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1,593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30,501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919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119.36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Bags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143,208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867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15,273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728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165.18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Notebooks &amp; Journals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93,559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462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9,556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383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202.51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Lifestyle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71,323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1,112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24,881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817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64.14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Nest-Canada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62,643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50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469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205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1,252.86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Headgear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45,991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259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3,533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425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177.57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Gift Cards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17,575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206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77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675.95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Google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10,363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70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575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89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148.04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Backpacks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9,650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113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75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292.42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Fun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7,114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67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834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118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106.18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Accessories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6,490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121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1,097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150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53.64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Waze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5,897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215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1,144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309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27.43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Bottles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5,805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165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2,090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203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35.18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Housewares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4,316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97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2,484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107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44.49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More Bags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3,477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23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144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151.19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Android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619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20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45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42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0F1E30"/>
                          </a:solidFill>
                        </a:rPr>
                        <a:t>30.97</a:t>
                      </a:r>
                      <a:endParaRPr lang="en-US" sz="78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BY WEEKDAY  &amp;  DAY OF MONTH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Orders &amp; Revenue by Weekday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32688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58368"/>
          <a:ext cx="3749040" cy="2560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Weekday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Friday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3,443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775,148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Monday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1,581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320,886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Saturday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3,096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601,673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Sunday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3,079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615,620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Thursday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3,304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758,085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Tuesday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1,617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352,316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Wednesday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3,153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734,150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3716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Highest Revenue Days of Month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3639312"/>
            <a:ext cx="1645920" cy="132588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3716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18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</a:rPr>
              <a:t>192,378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920240" y="3639312"/>
            <a:ext cx="1645920" cy="132588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92024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27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920240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</a:rPr>
              <a:t>182,979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703320" y="3639312"/>
            <a:ext cx="1645920" cy="132588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70332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5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703320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</a:rPr>
              <a:t>170,406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0" y="3639312"/>
            <a:ext cx="1645920" cy="132588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8640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13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0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</a:rPr>
              <a:t>167,549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269480" y="3639312"/>
            <a:ext cx="1645920" cy="132588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26948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14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269480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</a:rPr>
              <a:t>153,429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25780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Lowest Revenue Days of Month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257800" y="3639312"/>
            <a:ext cx="1097280" cy="132588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25780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31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257800" y="40965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98,446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19672" y="3639312"/>
            <a:ext cx="1097280" cy="132588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519672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29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519672" y="40965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100,970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781544" y="3639312"/>
            <a:ext cx="1097280" cy="132588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781544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25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781544" y="40965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112,421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vs REVENUE  &amp;  ROI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Monthly Revenue vs Online &amp; Offline Spend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32688"/>
          <a:ext cx="5486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658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Monthly ROI (Revenue/TotalSpend × 100)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932688"/>
          <a:ext cx="3154680" cy="301752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Spend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ROI 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Jan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20,052,775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2.02%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Feb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15,841,536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1.76%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17,453,780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1.58%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Apr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21,655,922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1.88%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17,525,521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1.58%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18,625,404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1.35%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Jul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20,618,934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1.82%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Aug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28,385,734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1.26%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Sep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19,257,626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1.45%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Oct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20,536,272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1.97%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Nov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21,096,300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2.10%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Dec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28,964,402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1.39%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" y="3337560"/>
            <a:ext cx="5486400" cy="160020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34290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</a:rPr>
              <a:t>Correlation (Revenue vs TotalSpend) = 0.544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82880" y="3767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Moderate positive relationship between marketing spend and revenue.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82880" y="4041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CB"/>
                </a:solidFill>
              </a:rPr>
              <a:t>Best ROI: Nov (2.10%)  |  Worst ROI: Aug (1.26%)  |  Avg ROI: ~1.66%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82880" y="4315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5B0"/>
                </a:solidFill>
              </a:rPr>
              <a:t>Other factors (seasonality, product mix) also drive revenue alongside spend.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 —  TRANSACTIONS, VOLUME &amp; REVENUE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40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</a:rPr>
              <a:t>Top 10 by Unique Transactions (Cell 97)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914400"/>
          <a:ext cx="4297680" cy="22915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Transactions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Google 22 oz Water Bottle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358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Google Sunglasses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321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Google Laptop and Cell Phone Stickers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288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Google Metallic Notebook Set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252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Maze Pen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247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Sport Bag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235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Foam Can and Bottle Cooler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206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Windup Android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193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Four Color Retractable Pen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192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YouTube Custom Decals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191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640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</a:rPr>
              <a:t>Top 10 by Occurrence Count (Cell 98)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914400"/>
          <a:ext cx="4480560" cy="22915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Nest Learning Thermostat 3rd Gen-USA Steel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3,511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Nest Cam Outdoor Security Camera - USA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3,328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Nest Cam Indoor Security Camera - USA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3,230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Google Sunglasses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1,523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Nest Protect Smoke+CO Battery Alarm-USA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1,361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Nest Learning Thermostat 3rd Gen-USA White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1,089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Nest Protect Smoke+CO Wired Alarm-USA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1,065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Google 22 oz Water Bottle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902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Nest Thermostat E - USA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844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Google Laptop and Cell Phone Stickers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806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37160" y="3291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</a:rPr>
              <a:t>Top Products by Revenue (Cell 101)</a:t>
            </a:r>
            <a:endParaRPr lang="en-US" sz="9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3566160"/>
          <a:ext cx="4297680" cy="1371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Nest Learning Thermostat 3rd Gen-USA Steel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608,814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Nest Cam Outdoor Security Camera - USA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554,652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Nest Cam Indoor Security Camera - USA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467,236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Nest Protect Smoke+CO Battery Alarm-USA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189,244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Nest Protect Smoke+CO Wired Alarm-USA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188,040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5"/>
          <p:cNvSpPr/>
          <p:nvPr/>
        </p:nvSpPr>
        <p:spPr>
          <a:xfrm>
            <a:off x="4663440" y="3291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</a:rPr>
              <a:t>Top Categories by Quantity (Cell 105)</a:t>
            </a:r>
            <a:endParaRPr lang="en-US" sz="95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566160"/>
          <a:ext cx="4480560" cy="137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Office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88,383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Apparel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32,438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Drinkware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30,501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Lifestyle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24,881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Nest-USA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21,430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HEURISTIC (Value-Based)  &amp;  RFM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Heuristic (Value-Based) Segmentation  — Cell 116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" y="914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Bins: Standard (0–5K), Silver (5K–15K), Gold (15K–50K), Premium (50K+)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" y="1170432"/>
          <a:ext cx="42976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137160" y="3246120"/>
            <a:ext cx="960120" cy="59436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Standard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37160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1,234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07008" y="3246120"/>
            <a:ext cx="960120" cy="59436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07008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Silver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07008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210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76856" y="3246120"/>
            <a:ext cx="960120" cy="59436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76856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Gold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276856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46704" y="3246120"/>
            <a:ext cx="960120" cy="59436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346704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Premium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346704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63440" y="658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RFM Segmentation  — Cell 124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63440" y="914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0"/>
                </a:solidFill>
              </a:rPr>
              <a:t>Score: Premium≥12, Gold≥9, Silver≥6, Standard&lt;6</a:t>
            </a:r>
            <a:endParaRPr lang="en-US" sz="8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4526280" y="1170432"/>
          <a:ext cx="4434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4663440" y="3246120"/>
            <a:ext cx="987552" cy="594360"/>
          </a:xfrm>
          <a:prstGeom prst="rect">
            <a:avLst/>
          </a:prstGeom>
          <a:solidFill>
            <a:srgbClr val="F5A62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663440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Gold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663440" y="35387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396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760720" y="3246120"/>
            <a:ext cx="987552" cy="594360"/>
          </a:xfrm>
          <a:prstGeom prst="rect">
            <a:avLst/>
          </a:prstGeom>
          <a:solidFill>
            <a:srgbClr val="0D7A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760720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Premium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760720" y="35387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391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858000" y="3246120"/>
            <a:ext cx="987552" cy="59436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858000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Silver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858000" y="35387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382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955280" y="3246120"/>
            <a:ext cx="987552" cy="59436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7955280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Standard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955280" y="35387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299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37160" y="395020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Segment Strategies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4224528"/>
          <a:ext cx="8924544" cy="1036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Goal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Premium / High-Value Loyal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Retention &amp; Upsell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VIP loyalty programs • Early access to new products • Personalized reco • Avoid heavy discounts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Gold / Discount Seeker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Revenue with controlled discounts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Targeted coupons • Bundle offers • Flash sales • Urgency-based marketing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Silver / At-Risk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Win-back &amp; Reactivation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Personalized win-back emails • Limited-time offers • Feedback surveys • Retargeting ads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Standard / New Customer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Activation &amp; Engagement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Welcome campaigns • 1st-to-2nd purchase incentive • Product education • Onboarding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 (K=5, Silhouette Scores from Cell 130)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Silhouette Scores by K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32688"/>
          <a:ext cx="42976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37160" y="2788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5B0"/>
                </a:solidFill>
              </a:rPr>
              <a:t>Optimal K = 5 chosen (best Silhouette + Elbow method)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663440" y="658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Cluster Profiles (K=5) — Cell 130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932688"/>
          <a:ext cx="5852160" cy="15240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Recency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Monetary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Avg OV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Avg Disc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Coupon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Diversity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Tenure</a:t>
                      </a:r>
                      <a:endParaRPr lang="en-US" sz="7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216.62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8.69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69,230.92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8,463.33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0.17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0.32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4.40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24.32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92.24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40.15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394,005.32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10,162.16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0.19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0.34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9.90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24.07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97.98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11.06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104,676.02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10,912.80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0.25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0.36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5.29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29.14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3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206.12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10.04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84,738.30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8,868.94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0.15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0.33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4.76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24.02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61.92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197.54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1,945,552.76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10,055.87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0.21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0.34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15.62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F1E30"/>
                          </a:solidFill>
                        </a:rPr>
                        <a:t>27.38</a:t>
                      </a:r>
                      <a:endParaRPr lang="en-US" sz="7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2468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Auto Segment Mapping — Cell 131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743200"/>
          <a:ext cx="4480560" cy="12801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Goal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At-Risk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Win-back &amp; Reactivation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High-Value Loyal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Retention &amp; Upsell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Discount Seeker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Maximize revenue with controlled discounts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At-Risk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Win-back &amp; Reactivation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High-Value Loyal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Retention &amp; Upsell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91440" y="3090672"/>
            <a:ext cx="4297680" cy="1901952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7"/>
          <p:cNvSpPr/>
          <p:nvPr/>
        </p:nvSpPr>
        <p:spPr>
          <a:xfrm>
            <a:off x="182880" y="31638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</a:rPr>
              <a:t>Cluster Profile Summary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82880" y="3511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C0: At-Risk — high recency (216d), low freq (8.7), offline-heavy (47%)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8288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C1: High-Value Loyal — moderate recency, freq 40, monetary 394K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82880" y="4096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C2: Discount Seeker — high discount (0.25), high coupon (0.36)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8288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C3: At-Risk — very high recency (206d), offline-dominant (70%)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82880" y="4681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</a:rPr>
              <a:t>• C4: High-Value Loyal — lowest recency (62d), freq 197, monetary 1.9M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 PREDICTION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CLV Segments (Quantile Split, 3 buckets) — Cell 136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32688"/>
          <a:ext cx="42976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37160" y="2724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Model 1: Random Forest (Cell 141)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2999232"/>
          <a:ext cx="4297680" cy="10972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High Value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0.95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0.90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0.93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123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Low Value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0.92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0.93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0.93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122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Medium Value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0.85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122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0.90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367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1440" y="4114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Accuracy: 90%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63440" y="658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Feature Importance RF (Cell 143)</a:t>
            </a:r>
            <a:endParaRPr lang="en-US" sz="10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526280" y="932688"/>
          <a:ext cx="44805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6"/>
          <p:cNvSpPr/>
          <p:nvPr/>
        </p:nvSpPr>
        <p:spPr>
          <a:xfrm>
            <a:off x="4663440" y="3090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Model 2: Gradient Boosting (Cell 144)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364992"/>
          <a:ext cx="4297680" cy="1280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High Value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0.83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0.89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Low Value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0.86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Medium Value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0.74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0.67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0.71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98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0.81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294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Train Acc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0.87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E3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7"/>
          <p:cNvSpPr/>
          <p:nvPr/>
        </p:nvSpPr>
        <p:spPr>
          <a:xfrm>
            <a:off x="4526280" y="45537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A5B0"/>
                </a:solidFill>
              </a:rPr>
              <a:t>GB Feature Importance: frequency=0.778, product_diversity=0.118, recency=0.061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 &amp;  COHORT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Top 5 Cross-Sell Pairs (Market Basket) — Cell 151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" y="932688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3337560"/>
          <a:ext cx="5029200" cy="1508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Product 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Product 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Apparel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Office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7,732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Apparel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Drinkware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4,518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Apparel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Lifestyle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4,208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Lifestyle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Office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4,122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Drinkware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Office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E30"/>
                          </a:solidFill>
                        </a:rPr>
                        <a:t>3,945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394960" y="658368"/>
            <a:ext cx="3611880" cy="429768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486400" y="749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</a:rPr>
              <a:t>Cohort Analysis — Cell 174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0" y="1115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Method: Customers grouped by first purchase month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5486400" y="1289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Metric: Month-2 retention rate per cohort</a:t>
            </a:r>
            <a:endParaRPr lang="en-US" sz="780" dirty="0"/>
          </a:p>
        </p:txBody>
      </p:sp>
      <p:sp>
        <p:nvSpPr>
          <p:cNvPr id="11" name="Text 7"/>
          <p:cNvSpPr/>
          <p:nvPr/>
        </p:nvSpPr>
        <p:spPr>
          <a:xfrm>
            <a:off x="5486400" y="1636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C2CB"/>
                </a:solidFill>
              </a:rPr>
              <a:t>RESULT (Cell 174):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5486400" y="1810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C2CB"/>
                </a:solidFill>
              </a:rPr>
              <a:t>Highest Month-2 Retention Cohort: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5486400" y="1984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  2019-06  →  14.6%</a:t>
            </a:r>
            <a:endParaRPr lang="en-US" sz="780" dirty="0"/>
          </a:p>
        </p:txBody>
      </p:sp>
      <p:sp>
        <p:nvSpPr>
          <p:cNvPr id="6" name="Text 10"/>
          <p:cNvSpPr/>
          <p:nvPr/>
        </p:nvSpPr>
        <p:spPr>
          <a:xfrm>
            <a:off x="5486400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C2CB"/>
                </a:solidFill>
              </a:rPr>
              <a:t>Interpretation (Cell 175):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5486400" y="25054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June 2019 cohort had 14.6% of customers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5486400" y="26791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return in the following month — best among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5486400" y="2852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all 12 monthly cohorts in 2019.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548640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June customers may have responded well to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5486400" y="33741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marketing campaigns, product offerings,</a:t>
            </a:r>
            <a:endParaRPr lang="en-US" sz="780" dirty="0"/>
          </a:p>
        </p:txBody>
      </p:sp>
      <p:sp>
        <p:nvSpPr>
          <p:cNvPr id="20" name="Text 16"/>
          <p:cNvSpPr/>
          <p:nvPr/>
        </p:nvSpPr>
        <p:spPr>
          <a:xfrm>
            <a:off x="5486400" y="35478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or seasonal demand patterns.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5486400" y="38953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C2CB"/>
                </a:solidFill>
              </a:rPr>
              <a:t>Next Purchase Prediction (Cell 164):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5486400" y="4069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Model: Random Forest</a:t>
            </a:r>
            <a:endParaRPr lang="en-US" sz="780" dirty="0"/>
          </a:p>
        </p:txBody>
      </p:sp>
      <p:sp>
        <p:nvSpPr>
          <p:cNvPr id="23" name="Text 19"/>
          <p:cNvSpPr/>
          <p:nvPr/>
        </p:nvSpPr>
        <p:spPr>
          <a:xfrm>
            <a:off x="5486400" y="4242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Accuracy: 79.59%</a:t>
            </a:r>
            <a:endParaRPr lang="en-US" sz="780" dirty="0"/>
          </a:p>
        </p:txBody>
      </p:sp>
      <p:sp>
        <p:nvSpPr>
          <p:cNvPr id="24" name="Text 20"/>
          <p:cNvSpPr/>
          <p:nvPr/>
        </p:nvSpPr>
        <p:spPr>
          <a:xfrm>
            <a:off x="5486400" y="4416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Buckets: 0–30 / 30–60 / 60–90 / 90+ days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5486400" y="45902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CDDEE"/>
                </a:solidFill>
              </a:rPr>
              <a:t>734 repeat customers analyzed</a:t>
            </a:r>
            <a:endParaRPr lang="en-US" sz="78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1715</Words>
  <Application>Microsoft Office PowerPoint</Application>
  <PresentationFormat>On-screen Show (16:9)</PresentationFormat>
  <Paragraphs>805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Vivek Sikarwar</cp:lastModifiedBy>
  <cp:revision>2</cp:revision>
  <dcterms:created xsi:type="dcterms:W3CDTF">2026-04-22T18:25:28Z</dcterms:created>
  <dcterms:modified xsi:type="dcterms:W3CDTF">2026-04-22T18:30:17Z</dcterms:modified>
</cp:coreProperties>
</file>